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Cripto HF: Spark CPU vs 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B0C4DE"/>
                </a:solidFill>
              </a:defRPr>
            </a:pPr>
            <a:r>
              <a:t>Benchmark de Procesamiento en Tiempo Real</a:t>
            </a:r>
          </a:p>
          <a:p>
            <a:pPr>
              <a:spcAft>
                <a:spcPts val="800"/>
              </a:spcAft>
              <a:defRPr sz="1600">
                <a:solidFill>
                  <a:srgbClr val="B0C4DE"/>
                </a:solidFill>
              </a:defRPr>
            </a:pPr>
            <a:r>
              <a:t>Apache Spark Structured Streaming + NVIDIA RAPIDS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3A4A"/>
                </a:solidFill>
              </a:defRPr>
            </a:pPr>
            <a:r>
              <a:t>Instituto Tecnologico Autonomo de Mexico</a:t>
            </a:r>
          </a:p>
          <a:p>
            <a:pPr>
              <a:spcAft>
                <a:spcPts val="800"/>
              </a:spcAft>
              <a:defRPr sz="1700">
                <a:solidFill>
                  <a:srgbClr val="2D3A4A"/>
                </a:solidFill>
              </a:defRPr>
            </a:pPr>
            <a:r>
              <a:t>Arquitectura de Grandes Volumenes de Datos</a:t>
            </a:r>
          </a:p>
          <a:p>
            <a:pPr>
              <a:spcAft>
                <a:spcPts val="800"/>
              </a:spcAft>
              <a:defRPr sz="1700">
                <a:solidFill>
                  <a:srgbClr val="2D3A4A"/>
                </a:solidFill>
              </a:defRPr>
            </a:pPr>
            <a:r>
              <a:t>Prof. Wilmer Efren Pereira Gonzalez</a:t>
            </a:r>
          </a:p>
          <a:p>
            <a:pPr>
              <a:spcAft>
                <a:spcPts val="800"/>
              </a:spcAft>
              <a:defRPr sz="1700">
                <a:solidFill>
                  <a:srgbClr val="2D3A4A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2D3A4A"/>
                </a:solidFill>
              </a:defRPr>
            </a:pPr>
            <a:r>
              <a:t>Braulio Lozano  |  Juan Casas</a:t>
            </a:r>
          </a:p>
          <a:p>
            <a:pPr>
              <a:spcAft>
                <a:spcPts val="800"/>
              </a:spcAft>
              <a:defRPr sz="1700">
                <a:solidFill>
                  <a:srgbClr val="2D3A4A"/>
                </a:solidFill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Origen del Flujo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B8D"/>
                </a:solidFill>
              </a:defRPr>
            </a:pPr>
            <a:r>
              <a:t>Punto 0: Tipo de flujo — TIEMPO REAL (no simulado)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  <a:r>
              <a:t>Fuente:  Binance USDS-Margined Futures WebSocket</a:t>
            </a:r>
          </a:p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  <a:r>
              <a:t>Streams:  aggTrade (trades) + depth@100ms (libro de ordenes)</a:t>
            </a:r>
          </a:p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  <a:r>
              <a:t>10 pares de alta liquidez:</a:t>
            </a:r>
          </a:p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  <a:r>
              <a:t>   BTCUSDT   ETHUSDT   BNBUSDT   SOLUSDT   XRPUSDT</a:t>
            </a:r>
          </a:p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  <a:r>
              <a:t>   ADAUSDT   DOGEUSDT  AVAXUSDT  DOTUSDT   MATICUSDT</a:t>
            </a:r>
          </a:p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  <a:r>
              <a:t>Throughput agregado:  ~640+ mensajes/segundo</a:t>
            </a:r>
          </a:p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  <a:r>
              <a:t>   (supera requisito de 4,096 lecturas/s)</a:t>
            </a:r>
          </a:p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  <a:r>
              <a:t>Datos procesados en benchmark:  9.7 MILLONES de filas</a:t>
            </a:r>
          </a:p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  <a:r>
              <a:t>Sesion de streaming continuo:  25+ minutos, 45,533 tasks Spark</a:t>
            </a:r>
          </a:p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  <a:r>
              <a:t>Formato:  Envelope JSON estandarizado por mensaje</a:t>
            </a:r>
          </a:p>
          <a:p>
            <a:pPr>
              <a:spcAft>
                <a:spcPts val="600"/>
              </a:spcAft>
              <a:defRPr sz="1400">
                <a:solidFill>
                  <a:srgbClr val="2D3A4A"/>
                </a:solidFill>
              </a:defRPr>
            </a:pPr>
            <a:r>
              <a:t>   {symbol, exchange, event_type, ts_event, ts_ingest, payload}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Arquitectura del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B8D"/>
                </a:solidFill>
              </a:defRPr>
            </a:pPr>
            <a:r>
              <a:t>End-to-end: ingesta, procesamiento, ML, prediccion, visualizacion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Binance WebSocket (10 pares, ~640 msg/s)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             |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             v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Ingest: asyncio + websockets + confluent-kafka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   producer_trades.py  |  producer_book.py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             |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             v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Apache Kafka KRaft (Docker, 4 topics x 8 particiones)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   crypto-trades | crypto-book | crypto-features | crypto-pred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             |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             v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Spark Structured Streaming  (ventana 1 min, slide 30s)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   streaming_features.py -&gt; VWAP, volatilidad, spread, volumen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             |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      +------+------+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      v             v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Parquet         batch_train.py (RandomForest MLlib)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      |             |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      v             v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Dashboard      streaming_inference.py (scoring TR)</a:t>
            </a:r>
          </a:p>
          <a:p>
            <a:pPr>
              <a:spcAft>
                <a:spcPts val="300"/>
              </a:spcAft>
              <a:defRPr sz="1200">
                <a:solidFill>
                  <a:srgbClr val="2D3A4A"/>
                </a:solidFill>
              </a:defRPr>
            </a:pPr>
            <a:r>
              <a:t> (Streamlit)         -&gt; crypto-pred topic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Dos Arquitecturas —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B8D"/>
                </a:solidFill>
              </a:defRPr>
            </a:pPr>
            <a:r>
              <a:t>Punto 1: Descripcion y comparacion con Spark UI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832104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  <a:gridCol w="30175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Arq. 1: Local WSL2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Arq. 2: Google Colab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CPU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i7-12700H (14c/20t) 2.3GHz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Intel Xeon 2 vCPU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RAM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32 GB DDR4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12.7 GB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GPU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RTX 4070 8GB (no compatible*)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NVIDIA T4 16 GB VRAM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Disco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1 TB NVMe SN560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HDD temporal ~100 GB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PySpark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3.5.4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3.5.2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RAPIDS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N/A (kernel WSL incompatible)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24.10.1 (funcional)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Spark mode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local[10]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local[2] + SQLPlugin GPU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CUDA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12.6 (driver Windows)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12.x (nativo Linux)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30352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D3302F"/>
                </a:solidFill>
              </a:defRPr>
            </a:pPr>
            <a:r>
              <a:t>*RTX 4070 en WSL2 no funciona con RAPIDS 25.02 por incompatibilidad del kernel 6.6.114.</a:t>
            </a:r>
          </a:p>
          <a:p>
            <a:pPr>
              <a:spcAft>
                <a:spcPts val="400"/>
              </a:spcAft>
              <a:defRPr sz="1100">
                <a:solidFill>
                  <a:srgbClr val="D3302F"/>
                </a:solidFill>
              </a:defRPr>
            </a:pPr>
            <a:r>
              <a:t> Se uso Google Colab T4 como Arquitectura 2 (GPU funcional validada).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2A4A"/>
                </a:solidFill>
              </a:defRPr>
            </a:pPr>
            <a:r>
              <a:t>Spark UI — CPU Local (Streaming Features)</a:t>
            </a:r>
          </a:p>
        </p:txBody>
      </p:sp>
      <p:pic>
        <p:nvPicPr>
          <p:cNvPr id="4" name="Picture 3" descr="streaming_features_structured_strea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434840" cy="2383726"/>
          </a:xfrm>
          <a:prstGeom prst="rect">
            <a:avLst/>
          </a:prstGeom>
        </p:spPr>
      </p:pic>
      <p:pic>
        <p:nvPicPr>
          <p:cNvPr id="5" name="Picture 4" descr="streaming_features_execu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14400"/>
            <a:ext cx="4343400" cy="23345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212080"/>
            <a:ext cx="868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9688"/>
                </a:solidFill>
              </a:defRPr>
            </a:pPr>
            <a:r>
              <a:t>Avg Input Rate: 92.49 filas/s  |  Processing Rate: 92.72 filas/s  |  Tasks: 45,533  |  GC Time: 7s  |  Shuffle R/W: 2.7 / 2.6 MiB  |  Spill: 0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2A4A"/>
                </a:solidFill>
              </a:defRPr>
            </a:pPr>
            <a:r>
              <a:t>Spark UI — CPU Local (Batch Aggregate, 9.7M filas)</a:t>
            </a:r>
          </a:p>
        </p:txBody>
      </p:sp>
      <p:pic>
        <p:nvPicPr>
          <p:cNvPr id="4" name="Picture 3" descr="batch_aggregate_execu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434840" cy="2383726"/>
          </a:xfrm>
          <a:prstGeom prst="rect">
            <a:avLst/>
          </a:prstGeom>
        </p:spPr>
      </p:pic>
      <p:pic>
        <p:nvPicPr>
          <p:cNvPr id="5" name="Picture 4" descr="cpu_9M_j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14400"/>
            <a:ext cx="4343400" cy="23345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212080"/>
            <a:ext cx="868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9688"/>
                </a:solidFill>
              </a:defRPr>
            </a:pPr>
            <a:r>
              <a:t>9.7M filas  |  15s total  |  10 cores  |  Shuffle: 83.2 KiB R/W  |  GC: 0 ms  |  Spill: 0 B  |  Input: 26.3 MiB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2A4A"/>
                </a:solidFill>
              </a:defRPr>
            </a:pPr>
            <a:r>
              <a:t>GPU Colab T4 — Benchmark RAPIDS</a:t>
            </a:r>
          </a:p>
        </p:txBody>
      </p:sp>
      <p:pic>
        <p:nvPicPr>
          <p:cNvPr id="4" name="Picture 3" descr="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303520" cy="24106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914400"/>
            <a:ext cx="3200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D3A4A"/>
                </a:solidFill>
              </a:defRPr>
            </a:pPr>
            <a:r>
              <a:t>Operadores GPU en plan fisico:</a:t>
            </a:r>
          </a:p>
          <a:p>
            <a:pPr>
              <a:spcAft>
                <a:spcPts val="400"/>
              </a:spcAft>
              <a:defRPr sz="1200">
                <a:solidFill>
                  <a:srgbClr val="2D3A4A"/>
                </a:solidFill>
              </a:defRPr>
            </a:pPr>
            <a:r>
              <a:t>  GpuHashAggregate</a:t>
            </a:r>
          </a:p>
          <a:p>
            <a:pPr>
              <a:spcAft>
                <a:spcPts val="400"/>
              </a:spcAft>
              <a:defRPr sz="1200">
                <a:solidFill>
                  <a:srgbClr val="2D3A4A"/>
                </a:solidFill>
              </a:defRPr>
            </a:pPr>
            <a:r>
              <a:t>  GpuBroadcastHashJoin</a:t>
            </a:r>
          </a:p>
          <a:p>
            <a:pPr>
              <a:spcAft>
                <a:spcPts val="400"/>
              </a:spcAft>
              <a:defRPr sz="1200">
                <a:solidFill>
                  <a:srgbClr val="2D3A4A"/>
                </a:solidFill>
              </a:defRPr>
            </a:pPr>
            <a:r>
              <a:t>  GpuProject</a:t>
            </a:r>
          </a:p>
          <a:p>
            <a:pPr>
              <a:spcAft>
                <a:spcPts val="400"/>
              </a:spcAft>
              <a:defRPr sz="1200">
                <a:solidFill>
                  <a:srgbClr val="2D3A4A"/>
                </a:solidFill>
              </a:defRPr>
            </a:pPr>
            <a:r>
              <a:t>  GpuCoalesceBatches</a:t>
            </a:r>
          </a:p>
          <a:p>
            <a:pPr>
              <a:spcAft>
                <a:spcPts val="400"/>
              </a:spcAft>
              <a:defRPr sz="1200">
                <a:solidFill>
                  <a:srgbClr val="2D3A4A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D3A4A"/>
                </a:solidFill>
              </a:defRPr>
            </a:pPr>
            <a:r>
              <a:t>GPU Memory: 393 / 15,360 MB</a:t>
            </a:r>
          </a:p>
          <a:p>
            <a:pPr>
              <a:spcAft>
                <a:spcPts val="400"/>
              </a:spcAft>
              <a:defRPr sz="1200">
                <a:solidFill>
                  <a:srgbClr val="2D3A4A"/>
                </a:solidFill>
              </a:defRPr>
            </a:pPr>
            <a:r>
              <a:t>GC Time: 10.1 s</a:t>
            </a:r>
          </a:p>
          <a:p>
            <a:pPr>
              <a:spcAft>
                <a:spcPts val="400"/>
              </a:spcAft>
              <a:defRPr sz="1200">
                <a:solidFill>
                  <a:srgbClr val="2D3A4A"/>
                </a:solidFill>
              </a:defRPr>
            </a:pPr>
            <a:r>
              <a:t>Shuffle R: 3,584 MB</a:t>
            </a:r>
          </a:p>
          <a:p>
            <a:pPr>
              <a:spcAft>
                <a:spcPts val="400"/>
              </a:spcAft>
              <a:defRPr sz="1200">
                <a:solidFill>
                  <a:srgbClr val="2D3A4A"/>
                </a:solidFill>
              </a:defRPr>
            </a:pPr>
            <a:r>
              <a:t>Shuffle W: 2,811 MB</a:t>
            </a:r>
          </a:p>
          <a:p>
            <a:pPr>
              <a:spcAft>
                <a:spcPts val="400"/>
              </a:spcAft>
              <a:defRPr sz="1200">
                <a:solidFill>
                  <a:srgbClr val="2D3A4A"/>
                </a:solidFill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D3A4A"/>
                </a:solidFill>
              </a:defRPr>
            </a:pPr>
            <a:r>
              <a:t>Speedup total: 2.33x</a:t>
            </a:r>
          </a:p>
          <a:p>
            <a:pPr>
              <a:spcAft>
                <a:spcPts val="400"/>
              </a:spcAft>
              <a:defRPr sz="1200">
                <a:solidFill>
                  <a:srgbClr val="2D3A4A"/>
                </a:solidFill>
              </a:defRPr>
            </a:pPr>
            <a:r>
              <a:t>groupBy+agg: 3.49x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Comparativa de Metricas — Spark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B8D"/>
                </a:solidFill>
              </a:defRPr>
            </a:pPr>
            <a:r>
              <a:t>Punto 1: Al menos 2 metricas comparadas entre arquitecturas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88720"/>
          <a:ext cx="804672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03120"/>
                <a:gridCol w="210312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CPU Colab (2 vCPU)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GPU Colab (T4)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Speedup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Tiempo total (9.7M filas)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46.3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19.8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2.33x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groupBy + agg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35.6 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10.2 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3.49x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corr join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10.7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9.6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1.11x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GC Time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34 s (stream 50min)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10.1 s (batch)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~70% menos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Spill a disco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0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0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Shuffle Read total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5.7 MiB (stream)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3,584 MB (batch)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Scheduler Delay (p95)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~2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21208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67E22"/>
                </a:solidFill>
              </a:defRPr>
            </a:pPr>
            <a:r>
              <a:t>Conclusion clave: Streaming stateful (watermark, state store, joins) NO se acelera con RAPIDS.</a:t>
            </a:r>
          </a:p>
          <a:p>
            <a:pPr>
              <a:spcAft>
                <a:spcPts val="400"/>
              </a:spcAft>
              <a:defRPr sz="1200">
                <a:solidFill>
                  <a:srgbClr val="E67E22"/>
                </a:solidFill>
              </a:defRPr>
            </a:pPr>
            <a:r>
              <a:t>Solo operaciones batch SQL/ETL (groupBy, agg, join, sort) se benefician: 2-4x speedup tipico.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2A4A"/>
                </a:solidFill>
              </a:defRPr>
            </a:pPr>
            <a:r>
              <a:t>Dashboard de Indicadores en Tiempo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B8D"/>
                </a:solidFill>
              </a:defRPr>
            </a:pPr>
            <a:r>
              <a:t>Punto 2: Visualizacion estadistica del trafico (Streamlit + Plotly)</a:t>
            </a:r>
          </a:p>
        </p:txBody>
      </p:sp>
      <p:pic>
        <p:nvPicPr>
          <p:cNvPr id="5" name="Picture 4" descr="v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4434840" cy="1915045"/>
          </a:xfrm>
          <a:prstGeom prst="rect">
            <a:avLst/>
          </a:prstGeom>
        </p:spPr>
      </p:pic>
      <p:pic>
        <p:nvPicPr>
          <p:cNvPr id="6" name="Picture 5" descr="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51560"/>
            <a:ext cx="4389120" cy="18953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943600"/>
            <a:ext cx="868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B7B8D"/>
                </a:solidFill>
              </a:defRPr>
            </a:pPr>
            <a:r>
              <a:t>6 paneles interactivos:  VWAP | Volatilidad | Volumen/Trades | Spread Bid-Ask | Correlacion BTC | Stats resumen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2A4A"/>
                </a:solidFill>
              </a:defRPr>
            </a:pPr>
            <a:r>
              <a:t>Dashboard — Volatilidad y Volumen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B8D"/>
                </a:solidFill>
              </a:defRPr>
            </a:pPr>
            <a:r>
              <a:t>Indicadores estadisticos: stddev(precio), sum(volumen) por ventana</a:t>
            </a:r>
          </a:p>
        </p:txBody>
      </p:sp>
      <p:pic>
        <p:nvPicPr>
          <p:cNvPr id="5" name="Picture 4" descr="vola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4434840" cy="1915045"/>
          </a:xfrm>
          <a:prstGeom prst="rect">
            <a:avLst/>
          </a:prstGeom>
        </p:spPr>
      </p:pic>
      <p:pic>
        <p:nvPicPr>
          <p:cNvPr id="6" name="Picture 5" descr="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051560"/>
            <a:ext cx="4389120" cy="18953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943600"/>
            <a:ext cx="8686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6B7B8D"/>
                </a:solidFill>
              </a:defRPr>
            </a:pPr>
            <a:r>
              <a:t>Features calculadas por ventana:  vwap, price_volatility, total_volume, trade_count, spread, min/max price, bid/ask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2A4A"/>
                </a:solidFill>
              </a:defRPr>
            </a:pPr>
            <a:r>
              <a:t>Modelo Supervisado — batch_train.py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B8D"/>
                </a:solidFill>
              </a:defRPr>
            </a:pPr>
            <a:r>
              <a:t>Punto 3: Entrenamiento con batch capturado + metricas de desempeno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D3A4A"/>
                </a:solidFill>
              </a:defRPr>
            </a:pPr>
            <a:r>
              <a:t>Tarea:  Clasificacion binaria — direccion del precio</a:t>
            </a:r>
          </a:p>
          <a:p>
            <a:pPr>
              <a:spcAft>
                <a:spcPts val="500"/>
              </a:spcAft>
              <a:defRPr sz="1300">
                <a:solidFill>
                  <a:srgbClr val="2D3A4A"/>
                </a:solidFill>
              </a:defRPr>
            </a:pPr>
            <a:r>
              <a:t>  Label: price_direction = 1 si VWAP(t+1) &gt; VWAP(t), else 0</a:t>
            </a:r>
          </a:p>
          <a:p>
            <a:pPr>
              <a:spcAft>
                <a:spcPts val="500"/>
              </a:spcAft>
              <a:defRPr sz="1300">
                <a:solidFill>
                  <a:srgbClr val="2D3A4A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3A4A"/>
                </a:solidFill>
              </a:defRPr>
            </a:pPr>
            <a:r>
              <a:t>Algoritmo:  RandomForest (Spark MLlib)</a:t>
            </a:r>
          </a:p>
          <a:p>
            <a:pPr>
              <a:spcAft>
                <a:spcPts val="500"/>
              </a:spcAft>
              <a:defRPr sz="1300">
                <a:solidFill>
                  <a:srgbClr val="2D3A4A"/>
                </a:solidFill>
              </a:defRPr>
            </a:pPr>
            <a:r>
              <a:t>  100 arboles | profundidad max 10 | seed 42</a:t>
            </a:r>
          </a:p>
          <a:p>
            <a:pPr>
              <a:spcAft>
                <a:spcPts val="500"/>
              </a:spcAft>
              <a:defRPr sz="1300">
                <a:solidFill>
                  <a:srgbClr val="2D3A4A"/>
                </a:solidFill>
              </a:defRPr>
            </a:pPr>
            <a:r>
              <a:t>  Split: 80% train / 20% test</a:t>
            </a:r>
          </a:p>
          <a:p>
            <a:pPr>
              <a:spcAft>
                <a:spcPts val="500"/>
              </a:spcAft>
              <a:defRPr sz="1300">
                <a:solidFill>
                  <a:srgbClr val="2D3A4A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2D3A4A"/>
                </a:solidFill>
              </a:defRPr>
            </a:pPr>
            <a:r>
              <a:t>Features (14 total):</a:t>
            </a:r>
          </a:p>
          <a:p>
            <a:pPr>
              <a:spcAft>
                <a:spcPts val="500"/>
              </a:spcAft>
              <a:defRPr sz="1300">
                <a:solidFill>
                  <a:srgbClr val="2D3A4A"/>
                </a:solidFill>
              </a:defRPr>
            </a:pPr>
            <a:r>
              <a:t>  Base (7): vwap, price_volatility, total_volume, avg_price,</a:t>
            </a:r>
          </a:p>
          <a:p>
            <a:pPr>
              <a:spcAft>
                <a:spcPts val="500"/>
              </a:spcAft>
              <a:defRPr sz="1300">
                <a:solidFill>
                  <a:srgbClr val="2D3A4A"/>
                </a:solidFill>
              </a:defRPr>
            </a:pPr>
            <a:r>
              <a:t>            avg_spread_proxy, avg_best_bid, avg_best_ask</a:t>
            </a:r>
          </a:p>
          <a:p>
            <a:pPr>
              <a:spcAft>
                <a:spcPts val="500"/>
              </a:spcAft>
              <a:defRPr sz="1300">
                <a:solidFill>
                  <a:srgbClr val="2D3A4A"/>
                </a:solidFill>
              </a:defRPr>
            </a:pPr>
            <a:r>
              <a:t>  Lag (5):  vwap_lag1, vwap_lag2, volatility_lag1,</a:t>
            </a:r>
          </a:p>
          <a:p>
            <a:pPr>
              <a:spcAft>
                <a:spcPts val="500"/>
              </a:spcAft>
              <a:defRPr sz="1300">
                <a:solidFill>
                  <a:srgbClr val="2D3A4A"/>
                </a:solidFill>
              </a:defRPr>
            </a:pPr>
            <a:r>
              <a:t>            volume_lag1, spread_lag1</a:t>
            </a:r>
          </a:p>
          <a:p>
            <a:pPr>
              <a:spcAft>
                <a:spcPts val="500"/>
              </a:spcAft>
              <a:defRPr sz="1300">
                <a:solidFill>
                  <a:srgbClr val="2D3A4A"/>
                </a:solidFill>
              </a:defRPr>
            </a:pPr>
            <a:r>
              <a:t>  Pipeline: VectorAssembler + StandardScaler + RF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45920" y="484632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Metrica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Resultado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51.19%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0.5112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AUC-ROC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0.5224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Tiempo entrenamiento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3A4A"/>
                          </a:solidFill>
                          <a:latin typeface="Arial"/>
                        </a:defRPr>
                      </a:pPr>
                      <a:r>
                        <a:t>~37 min (Colab 2 vCPU)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2A4A"/>
                </a:solidFill>
              </a:defRPr>
            </a:pPr>
            <a:r>
              <a:t>Prediccion en Streaming — streaming_inference.py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B8D"/>
                </a:solidFill>
              </a:defRPr>
            </a:pPr>
            <a:r>
              <a:t>Punto 4: Clasificacion de nuevos datos despues del entrenamiento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Flujo de prediccion en tiempo real: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1. Consume features calculadas de Kafka (topic: crypto-features)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2. Carga modelo entrenado desde models/rf_price_direction/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3. Aplica pipeline (VectorAssembler + Scaler + RF) a cada micro-batch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4. Genera predicciones: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      - price_direction_prediction (0 o 1)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      - probability_price_up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      - probability_price_down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5. Publica a: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      - Kafka topic: crypto-pred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      - Parquet: ~/data/crypto/predictions/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Metricas de inferencia observadas: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Avg Input Rate:      154.12 filas/s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Avg Processing Rate:   3.79 filas/s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Bottleneck: foreachBatch con transformacion completa del modelo RF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Pares clasificados: BTCUSDT, ETHUSDT, SOLUSDT, AVAXUSDT, 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2A4A"/>
                </a:solidFill>
              </a:defRPr>
            </a:pPr>
            <a:r>
              <a:t>Pipeline Completo Funcionando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503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B7B8D"/>
                </a:solidFill>
              </a:defRPr>
            </a:pPr>
            <a:r>
              <a:t>Punto 5: Captura en TR + prediccion despues de tener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Componentes ejecutados y verificados: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[OK]  Kafka KRaft (Docker) — 4 topics, 8 particiones c/u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[OK]  producer_trades.py — aggTrade en tiempo real desde Binance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[OK]  producer_book.py — depth@100ms en tiempo real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[OK]  streaming_features.py — 25+ min continuo, 45,533 tasks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[OK]  batch_train.py — RandomForest entrenado (9.7M filas)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[OK]  streaming_inference.py — scoring en tiempo real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[OK]  Dashboard Streamlit — indicadores en vivo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[OK]  gpu_smoke_test.py — benchmark CPU vs GPU exitoso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Volumetria total: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9.7 millones de filas procesadas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10 criptomonedas simultaneas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640+ msg/s de ingesta sostenida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Flujo:  Binance WS -&gt; Kafka -&gt; Spark Streaming -&gt; Parquet -&gt; ML -&gt; Prediccion TR -&gt;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4A"/>
                </a:solidFill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503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1. GPU NO acelera streaming stateful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   Watermark, state store, stream-stream join = solo CPU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   El pipeline de features corre integramente en CPU aunque RAPIDS este activo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2. GPU SI acelera batch SQL/ETL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   2.33x speedup total | 3.49x en groupBy+agg (GpuHashAggregate)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   Operaciones ideales: groupBy, sort, join, percentile_approx, Window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3. GC Time reducido ~70% con GPU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   Datos en VRAM fuera del heap JVM -&gt; menos presion de GC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4. RandomForest (MLlib) no tiene backend GPU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   Para aceleracion ML se requiere cuML o XGBoost con soporte RAPIDS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5. Arquitectura recomendada por caso de uso: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   Streaming en tiempo real  -&gt;  CPU local (multi-core)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   ETL / agregaciones masivas  -&gt;  GPU (Colab T4, AWS EMR)</a:t>
            </a:r>
          </a:p>
          <a:p>
            <a:pPr>
              <a:spcAft>
                <a:spcPts val="400"/>
              </a:spcAft>
              <a:defRPr sz="1300">
                <a:solidFill>
                  <a:srgbClr val="2D3A4A"/>
                </a:solidFill>
              </a:defRPr>
            </a:pPr>
            <a:r>
              <a:t>     ML training  -&gt;  CPU con MLlib, o migrar a cuML para GPU nativo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